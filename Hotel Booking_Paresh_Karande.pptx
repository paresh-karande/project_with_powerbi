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53" r:id="rId1"/>
  </p:sldMasterIdLst>
  <p:sldIdLst>
    <p:sldId id="256" r:id="rId2"/>
    <p:sldId id="262" r:id="rId3"/>
    <p:sldId id="263" r:id="rId4"/>
    <p:sldId id="264" r:id="rId5"/>
    <p:sldId id="265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4" r:id="rId18"/>
    <p:sldId id="277" r:id="rId19"/>
    <p:sldId id="281" r:id="rId20"/>
    <p:sldId id="282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85" autoAdjust="0"/>
    <p:restoredTop sz="94206" autoAdjust="0"/>
  </p:normalViewPr>
  <p:slideViewPr>
    <p:cSldViewPr snapToGrid="0">
      <p:cViewPr varScale="1">
        <p:scale>
          <a:sx n="71" d="100"/>
          <a:sy n="71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8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7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7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99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77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69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65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29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2556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23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2466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36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619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6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05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  <p:sldLayoutId id="2147484065" r:id="rId12"/>
    <p:sldLayoutId id="2147484066" r:id="rId13"/>
    <p:sldLayoutId id="2147484067" r:id="rId14"/>
    <p:sldLayoutId id="2147484068" r:id="rId15"/>
    <p:sldLayoutId id="21474840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CE30-4980-4CAF-B0DB-3BC15B33B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044" y="344251"/>
            <a:ext cx="7766936" cy="1646302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HOTEL BOOKING</a:t>
            </a:r>
            <a:b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F992B-7E6A-478F-8AA7-E3E94E993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532" y="1990554"/>
            <a:ext cx="6940448" cy="84677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PREPARED BY :- PARESH KARANDE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GUIDED BY: ABHISHEK WAVHAL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5719E8-C640-49E1-9304-488356E3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60" y="2985633"/>
            <a:ext cx="6803215" cy="295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8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C2B58-6177-4BD4-B5F7-7620CE9BFB66}"/>
              </a:ext>
            </a:extLst>
          </p:cNvPr>
          <p:cNvSpPr txBox="1"/>
          <p:nvPr/>
        </p:nvSpPr>
        <p:spPr>
          <a:xfrm>
            <a:off x="820270" y="685800"/>
            <a:ext cx="8673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TABLE CONTENT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70DAF-0976-41BB-BFC5-A8F1CDDF91EC}"/>
              </a:ext>
            </a:extLst>
          </p:cNvPr>
          <p:cNvSpPr txBox="1"/>
          <p:nvPr/>
        </p:nvSpPr>
        <p:spPr>
          <a:xfrm>
            <a:off x="914400" y="1936376"/>
            <a:ext cx="76110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Processing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Analysis/Data Visualization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Points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and Technology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52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5F581-D767-4600-8087-FDCBAD66C576}"/>
              </a:ext>
            </a:extLst>
          </p:cNvPr>
          <p:cNvSpPr txBox="1"/>
          <p:nvPr/>
        </p:nvSpPr>
        <p:spPr>
          <a:xfrm>
            <a:off x="981635" y="739588"/>
            <a:ext cx="7839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50F75-B2E4-45D3-9C3E-5CAD92B5BCFC}"/>
              </a:ext>
            </a:extLst>
          </p:cNvPr>
          <p:cNvSpPr txBox="1"/>
          <p:nvPr/>
        </p:nvSpPr>
        <p:spPr>
          <a:xfrm>
            <a:off x="981635" y="1869141"/>
            <a:ext cx="77186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dashboard gives a clear view of hotel booking performance.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us understand how many bookings were made, how much revenue was earned, and which countries and hotels performed the best.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also shows: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types of customers are booking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market segments bring more business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people are booking (online, travel agents, etc.)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this information, we can make better decisions to increase bookings, improve customer satisfaction, and grow revenue.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9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7452A3-731C-4AAB-A767-B92507EB9D13}"/>
              </a:ext>
            </a:extLst>
          </p:cNvPr>
          <p:cNvSpPr txBox="1"/>
          <p:nvPr/>
        </p:nvSpPr>
        <p:spPr>
          <a:xfrm>
            <a:off x="699247" y="766482"/>
            <a:ext cx="903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AND OBJECTIVES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3A94F-0F6B-4056-BDCA-577CC8997965}"/>
              </a:ext>
            </a:extLst>
          </p:cNvPr>
          <p:cNvSpPr txBox="1"/>
          <p:nvPr/>
        </p:nvSpPr>
        <p:spPr>
          <a:xfrm>
            <a:off x="820271" y="1748118"/>
            <a:ext cx="82430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analyze hotel booking data and identify key trends.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track performance across different hotel types and countries.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support better business decisions through data insights.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 total bookings, revenue, and cancellations.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performance between city and resort hotels.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Analyze customer segments and booking channels.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areas to improve occupancy and profitability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1D107C-8F1B-4CC8-A06E-3C360935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7" y="4744910"/>
            <a:ext cx="3576917" cy="1869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6FADD8-B5DB-4012-B221-231C1CAF1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635" y="4610439"/>
            <a:ext cx="1981200" cy="200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1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7C8685-5107-41B2-A10C-F5A2EEDF7E96}"/>
              </a:ext>
            </a:extLst>
          </p:cNvPr>
          <p:cNvSpPr txBox="1"/>
          <p:nvPr/>
        </p:nvSpPr>
        <p:spPr>
          <a:xfrm>
            <a:off x="591671" y="753035"/>
            <a:ext cx="7664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42B1A-B15B-4977-A0E0-45AFB988867B}"/>
              </a:ext>
            </a:extLst>
          </p:cNvPr>
          <p:cNvSpPr txBox="1"/>
          <p:nvPr/>
        </p:nvSpPr>
        <p:spPr>
          <a:xfrm>
            <a:off x="739588" y="1479176"/>
            <a:ext cx="87540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dataset contains detailed information about hotel bookings, including guest details, booking channels, stay duration, and other related factors.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Details: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Records: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119,390 bookings (approx.)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Hotel Types: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City Hotel, Resort Hotel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Time Period Covered: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2015 – 2017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Columns Include: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Hotel type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date and arrival details (day, month, year)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adults, children, and babies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Lead time (days before check-in)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Country and market segment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 channel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Room type and booking status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Daily Rate (ADR) and total revenue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790EE-8258-489F-86F9-BBEFDAE36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37330"/>
            <a:ext cx="2989360" cy="253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2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95A32C-8AC2-4244-8950-51A0DB8F3D55}"/>
              </a:ext>
            </a:extLst>
          </p:cNvPr>
          <p:cNvSpPr txBox="1"/>
          <p:nvPr/>
        </p:nvSpPr>
        <p:spPr>
          <a:xfrm>
            <a:off x="201705" y="655922"/>
            <a:ext cx="8875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PRE-PROCESSING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00CE7-5029-4238-8102-2CD31CADAB6F}"/>
              </a:ext>
            </a:extLst>
          </p:cNvPr>
          <p:cNvSpPr txBox="1"/>
          <p:nvPr/>
        </p:nvSpPr>
        <p:spPr>
          <a:xfrm>
            <a:off x="672353" y="1734671"/>
            <a:ext cx="83371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Pre-Processing is Done in 2 ways: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Remove Error, Remove Blank Records, Remove Duplicates, Identify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Primary Key, Identify Null Values in each column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Transformation: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Added Columns Booking ID, Arrival Date, Total Stay, Total No of Peoples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Customer Satisfaction, Total Revenue.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E1CF9-BD45-4BDA-851D-1BE01BBD1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45" y="4596993"/>
            <a:ext cx="2559986" cy="20086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DAAA9-9542-4055-ACD2-B39A9D367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723167"/>
            <a:ext cx="2947147" cy="17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2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D8B59B-AD02-43E4-A8E4-E9271FF19709}"/>
              </a:ext>
            </a:extLst>
          </p:cNvPr>
          <p:cNvSpPr txBox="1"/>
          <p:nvPr/>
        </p:nvSpPr>
        <p:spPr>
          <a:xfrm>
            <a:off x="699246" y="860612"/>
            <a:ext cx="8901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FC7D9-42A8-4AFD-AE85-054BA597337A}"/>
              </a:ext>
            </a:extLst>
          </p:cNvPr>
          <p:cNvSpPr txBox="1"/>
          <p:nvPr/>
        </p:nvSpPr>
        <p:spPr>
          <a:xfrm>
            <a:off x="820270" y="1640542"/>
            <a:ext cx="8377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Cleaning:</a:t>
            </a:r>
          </a:p>
          <a:p>
            <a:r>
              <a:rPr lang="en-US" b="1" dirty="0"/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 Error, Remove Blank Records, Remove Duplicates, Identify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Primary Key, Identify Null Values in each column.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C5C2A-D3F7-412B-906A-D9CEE52DF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3" y="2675966"/>
            <a:ext cx="806823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1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35284-A92F-4648-A061-6094F87C2F99}"/>
              </a:ext>
            </a:extLst>
          </p:cNvPr>
          <p:cNvSpPr txBox="1"/>
          <p:nvPr/>
        </p:nvSpPr>
        <p:spPr>
          <a:xfrm>
            <a:off x="645459" y="887506"/>
            <a:ext cx="9076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DATA TRANSFORMATION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942DB-6995-4FF9-8758-989CA5C27082}"/>
              </a:ext>
            </a:extLst>
          </p:cNvPr>
          <p:cNvSpPr txBox="1"/>
          <p:nvPr/>
        </p:nvSpPr>
        <p:spPr>
          <a:xfrm>
            <a:off x="887506" y="1680882"/>
            <a:ext cx="8377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Transformation:</a:t>
            </a:r>
          </a:p>
          <a:p>
            <a:r>
              <a:rPr lang="en-US" b="1" dirty="0"/>
              <a:t>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Added Columns Booking ID, Arrival Date, Total Stay, Total No of Peoples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Customer Satisfaction, Total Revenue, Checked all columns datatype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F4A25-2937-41E7-8532-8A170CE4F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23" y="3089812"/>
            <a:ext cx="4007224" cy="2885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E317C0-E3CB-4379-8967-973760C18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952" y="3089812"/>
            <a:ext cx="4249271" cy="288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7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46807-BDD8-45CC-A020-3C8E8EDDCC22}"/>
              </a:ext>
            </a:extLst>
          </p:cNvPr>
          <p:cNvSpPr txBox="1"/>
          <p:nvPr/>
        </p:nvSpPr>
        <p:spPr>
          <a:xfrm>
            <a:off x="726141" y="726142"/>
            <a:ext cx="8861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EXPLORATORY DATA ANALYTICS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63F77-58D8-4EF6-A0FF-4D52CEAC3243}"/>
              </a:ext>
            </a:extLst>
          </p:cNvPr>
          <p:cNvSpPr txBox="1"/>
          <p:nvPr/>
        </p:nvSpPr>
        <p:spPr>
          <a:xfrm>
            <a:off x="726141" y="2136338"/>
            <a:ext cx="35769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 as we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in the form Key Performance Indicator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Different types of charts like Column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chart,pie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chart,line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graph are use to see the trends in data and compare the values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89F4C-39E4-4A3E-AF2E-6BC683E69A63}"/>
              </a:ext>
            </a:extLst>
          </p:cNvPr>
          <p:cNvSpPr txBox="1"/>
          <p:nvPr/>
        </p:nvSpPr>
        <p:spPr>
          <a:xfrm>
            <a:off x="4303059" y="1922929"/>
            <a:ext cx="5029200" cy="3496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EE66F1-9FC1-4D12-B50A-2002829C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39" y="2315583"/>
            <a:ext cx="5326231" cy="299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9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E2885-8BFA-44A2-B006-6ABC58A8A3D8}"/>
              </a:ext>
            </a:extLst>
          </p:cNvPr>
          <p:cNvSpPr txBox="1"/>
          <p:nvPr/>
        </p:nvSpPr>
        <p:spPr>
          <a:xfrm>
            <a:off x="833717" y="726141"/>
            <a:ext cx="870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KEY PERFORMANCE INDICATOR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2FA4D-CA8D-430A-A39B-8FCBDC1F17C9}"/>
              </a:ext>
            </a:extLst>
          </p:cNvPr>
          <p:cNvSpPr txBox="1"/>
          <p:nvPr/>
        </p:nvSpPr>
        <p:spPr>
          <a:xfrm>
            <a:off x="833717" y="1781563"/>
            <a:ext cx="89154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Booking : 87.22K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Revenue : 34.45M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Country : 178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Avg ADR : 106.53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Avg Lead Time : 79.96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Person : 177K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48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41C3-70A3-442B-9DAE-EC27F99B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4811"/>
            <a:ext cx="10544237" cy="132080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Title : 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Booking By Hotel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4029B-54E1-42F3-998D-79CCD3951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4035" cy="421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chart shows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number of bookings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made for each hotel type in the dataset.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two hotel categories are: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🏙️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City Hotel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🏖️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Resort Hotel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Insights from the Chart: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City Hotel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has a higher booking count — around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60K bookings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Resort Hotel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has a lower booking count — approximately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35K bookings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indicates that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City Hotels are more frequently booked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than Resort Hotels, possibly due to business travel, easier accessibility, or year-round demand.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D04649-D078-469B-B2F5-A60BFAD041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9592" y="2160589"/>
            <a:ext cx="482467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4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A639-274C-476F-84FF-8FD37680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</a:t>
            </a:r>
            <a:r>
              <a:rPr lang="en-I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Title : </a:t>
            </a:r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Booking by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B5B16-E4A3-4330-905D-5E7A281A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435098" cy="4549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visualization represents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number of hotel bookings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grouped by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country of origin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(the guests’ country).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point on the line indicates how many bookings were made by customers from that specific country.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Portugal (PRT)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dominates bookings, nearly hitting 30K—far ahead of all other countries.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Emerging markets like China, Saudi Arabia, and Russia show low engagement—potential areas for growth.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Bookings are heavily concentrated in Western Europe, suggesting strong regional demand.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DFB966-33AB-49EC-A877-706867AD72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21714" y="2160589"/>
            <a:ext cx="4690474" cy="32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50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332D-CED3-413C-B44D-E17CED63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20575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Title :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Market Segment Share</a:t>
            </a:r>
            <a:endParaRPr lang="en-IN" sz="2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5B5D-5A69-4D81-B7A8-75FDD8A78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5980" y="1815352"/>
            <a:ext cx="4485608" cy="5042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chart shows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percentage share of total hotel bookings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by different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market segments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segment represents a different source or type of customer booking channel.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nsights: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Online dominance: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More than half of the bookings come via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Online Travel Agents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highlighting the importance of digital marketing and online partnerships.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Offline still matters: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~16% share,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traditional agents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remain important for customers who prefer personalized service or package deals.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Direct bookings are promising: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13.5% direct bookings show a good potential to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increase profit margins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by reducing commissions paid to OTAs.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Corporate and Group bookings: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These are smaller but steady segments that can be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grown through B2B partnerships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loyalty programs.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803395-6472-400C-A190-5561133737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79934" y="1815353"/>
            <a:ext cx="4914643" cy="33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2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E453-6898-470C-808E-4526BB5E8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48236"/>
            <a:ext cx="8596668" cy="1320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Title :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By Hotel &amp; Country</a:t>
            </a:r>
            <a:endParaRPr lang="en-IN" sz="2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8106-2B29-4216-A8E6-7480EC3A9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633" y="2068642"/>
            <a:ext cx="4184035" cy="38807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provided chart presents revenue data by hotel type and country. It shows the sum of total revenue in a tabular format, with country codes, hotel types, and corresponding revenue values.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r>
              <a:rPr lang="en-US" sz="1400" b="1" dirty="0"/>
              <a:t>Resort Hotels</a:t>
            </a:r>
            <a:r>
              <a:rPr lang="en-US" sz="1400" dirty="0"/>
              <a:t> outperform </a:t>
            </a:r>
            <a:r>
              <a:rPr lang="en-US" sz="1400" b="1" dirty="0"/>
              <a:t>City Hotels</a:t>
            </a:r>
            <a:r>
              <a:rPr lang="en-US" sz="1400" dirty="0"/>
              <a:t>, showing customers prefer leisure and holiday stays.</a:t>
            </a:r>
          </a:p>
          <a:p>
            <a:r>
              <a:rPr lang="en-US" sz="1400" b="1" dirty="0"/>
              <a:t>Top 5 countries</a:t>
            </a:r>
            <a:r>
              <a:rPr lang="en-US" sz="1400" dirty="0"/>
              <a:t> (Portugal, UK, France, Germany, Spain) contribute </a:t>
            </a:r>
            <a:r>
              <a:rPr lang="en-US" sz="1400" b="1" dirty="0"/>
              <a:t>over 70% of total revenue</a:t>
            </a:r>
            <a:r>
              <a:rPr lang="en-US" sz="1400" dirty="0"/>
              <a:t>.</a:t>
            </a:r>
          </a:p>
          <a:p>
            <a:r>
              <a:rPr lang="en-US" sz="1400" b="1" dirty="0"/>
              <a:t>European markets</a:t>
            </a:r>
            <a:r>
              <a:rPr lang="en-US" sz="1400" dirty="0"/>
              <a:t> dominate bookings; </a:t>
            </a:r>
            <a:r>
              <a:rPr lang="en-US" sz="1400" b="1" dirty="0"/>
              <a:t>Asia and America</a:t>
            </a:r>
            <a:r>
              <a:rPr lang="en-US" sz="1400" dirty="0"/>
              <a:t> have lower contribution.</a:t>
            </a:r>
          </a:p>
          <a:p>
            <a:r>
              <a:rPr lang="en-US" sz="1400" b="1" dirty="0"/>
              <a:t>Growth opportunity</a:t>
            </a:r>
            <a:r>
              <a:rPr lang="en-US" sz="1400" dirty="0"/>
              <a:t> in countries like </a:t>
            </a:r>
            <a:r>
              <a:rPr lang="en-US" sz="1400" b="1" dirty="0"/>
              <a:t>China, Austria, and Brazil</a:t>
            </a:r>
            <a:r>
              <a:rPr lang="en-US" sz="1400" dirty="0"/>
              <a:t> through marketing expansion.</a:t>
            </a:r>
          </a:p>
          <a:p>
            <a:pPr marL="0" indent="0"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E2AD49-939F-4DB2-901C-63B5A27B0C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14901" y="2253198"/>
            <a:ext cx="213389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78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BD39-A91C-4AC1-8F4A-088B500B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Title : Total Hotel by distribution Channel</a:t>
            </a:r>
            <a:endParaRPr lang="en-IN" sz="28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836F8-5438-4214-9721-638ABC5809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Description:-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bar chart visualizes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number of hotel bookings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segmented by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channels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which are the methods through which bookings are made. 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nsights:</a:t>
            </a:r>
          </a:p>
          <a:p>
            <a:r>
              <a:rPr lang="en-US" sz="1400" b="1" dirty="0"/>
              <a:t>TA/TO dominates</a:t>
            </a:r>
            <a:r>
              <a:rPr lang="en-US" sz="1400" dirty="0"/>
              <a:t> — Most bookings come from </a:t>
            </a:r>
            <a:r>
              <a:rPr lang="en-US" sz="1400" b="1" dirty="0"/>
              <a:t>Travel Agents/Tour Operators</a:t>
            </a:r>
            <a:r>
              <a:rPr lang="en-US" sz="1400" dirty="0"/>
              <a:t>, highlighting their importance in driving sales.</a:t>
            </a:r>
          </a:p>
          <a:p>
            <a:r>
              <a:rPr lang="en-US" sz="1400" b="1" dirty="0"/>
              <a:t>Direct bookings</a:t>
            </a:r>
            <a:r>
              <a:rPr lang="en-US" sz="1400" dirty="0"/>
              <a:t> show growth potential — can help reduce commission costs and increase profit margins.</a:t>
            </a:r>
          </a:p>
          <a:p>
            <a:r>
              <a:rPr lang="en-US" sz="1400" b="1" dirty="0"/>
              <a:t>Corporate bookings</a:t>
            </a:r>
            <a:r>
              <a:rPr lang="en-US" sz="1400" dirty="0"/>
              <a:t> form a smaller portion — opportunity to expand via partnerships with companies and events.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ECBA11-CDBA-4B3E-98B4-EE18129960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98141" y="2272553"/>
            <a:ext cx="4854388" cy="321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1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373C55-5F21-4E04-8363-2C16543116A8}"/>
              </a:ext>
            </a:extLst>
          </p:cNvPr>
          <p:cNvSpPr txBox="1"/>
          <p:nvPr/>
        </p:nvSpPr>
        <p:spPr>
          <a:xfrm>
            <a:off x="537883" y="658906"/>
            <a:ext cx="8538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               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418B5-EECC-4A8C-9288-2F71197E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54" y="1367396"/>
            <a:ext cx="9138958" cy="52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03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2A73-7D38-4BA7-9A50-15EC5C24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TOOLS AND TECHNOLOGY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E45A-85D6-4C3F-AD97-79CEADA316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Tool used : ETL (Power Query Editor),Excel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 Tool used : Power BI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59620C-7B93-4577-9503-220C4E1246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34204" y="2160589"/>
            <a:ext cx="3539798" cy="276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8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50E79-1D13-4C08-923A-D194B787DA28}"/>
              </a:ext>
            </a:extLst>
          </p:cNvPr>
          <p:cNvSpPr txBox="1"/>
          <p:nvPr/>
        </p:nvSpPr>
        <p:spPr>
          <a:xfrm>
            <a:off x="161363" y="556512"/>
            <a:ext cx="8875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CUSTOMER KEY INSIGHT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831DE-F3B9-4EB4-997C-7E71AA48CD51}"/>
              </a:ext>
            </a:extLst>
          </p:cNvPr>
          <p:cNvSpPr txBox="1"/>
          <p:nvPr/>
        </p:nvSpPr>
        <p:spPr>
          <a:xfrm>
            <a:off x="578222" y="1582340"/>
            <a:ext cx="95137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average lead time is 79.96 days, indicating customers generally plan well in advance before booking.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.Customer satisfaction appears high (as implied by strong booking and repeat customers across multiple countries).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City hotels attract more customers than resort hotels — likely due to convenience or business travel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major customer acquisition channel is Online TA/TO (Travel Agents/Tour Operators), contributing ~59% of bookings, showing customers prefer digital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 and corporate bookings form smaller segments, suggesting limited direct brand engagement.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547DC-1A0B-485B-B150-00344789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016" y="2393576"/>
            <a:ext cx="2100649" cy="185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39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81BD65-A57C-4781-938F-97BD16022187}"/>
              </a:ext>
            </a:extLst>
          </p:cNvPr>
          <p:cNvSpPr txBox="1"/>
          <p:nvPr/>
        </p:nvSpPr>
        <p:spPr>
          <a:xfrm>
            <a:off x="524435" y="524435"/>
            <a:ext cx="89691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REVENUE KEY INSIGHT</a:t>
            </a:r>
          </a:p>
          <a:p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86361-8B48-4AC4-9D75-1B80BFF4F927}"/>
              </a:ext>
            </a:extLst>
          </p:cNvPr>
          <p:cNvSpPr txBox="1"/>
          <p:nvPr/>
        </p:nvSpPr>
        <p:spPr>
          <a:xfrm>
            <a:off x="632011" y="1386209"/>
            <a:ext cx="8969189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Revenue: $34.45M, across 178 countries — wide international reach.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 Revenue Countries: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Portugal (PRT) – $58.7M (Resort Hotel dominates)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UK (GBR) – $30.4M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France (FRA) – $16.9M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Daily Rate (ADR): $106.53 — balanced pricing strategy between city and resort hotels.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Resort Hotels generate higher total revenue than city hotels due to higher room rates, even with fewer bookings.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1CF90-208A-478D-96FD-2EAF5165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876" y="1660902"/>
            <a:ext cx="20574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2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84D0E4-B658-4455-8118-38DD9357AFA2}"/>
              </a:ext>
            </a:extLst>
          </p:cNvPr>
          <p:cNvSpPr txBox="1"/>
          <p:nvPr/>
        </p:nvSpPr>
        <p:spPr>
          <a:xfrm>
            <a:off x="672352" y="595264"/>
            <a:ext cx="8834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BOOKING KEY INSIGHT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4D50E-5C1A-4301-ADC1-17463957BE65}"/>
              </a:ext>
            </a:extLst>
          </p:cNvPr>
          <p:cNvSpPr txBox="1"/>
          <p:nvPr/>
        </p:nvSpPr>
        <p:spPr>
          <a:xfrm>
            <a:off x="779929" y="1344706"/>
            <a:ext cx="111207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Bookings: 87.22K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Hotel Type Comparison: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- City Hotels have more bookings, showing higher occupancy.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- Resort Hotels have fewer bookings but higher revenue contribution.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Source: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- TA/TO channel dominates (majority bookings and revenue).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- Direct and Corporate channels have much smaller shares.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by Country: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- Top countries include Portugal, UK, France, Germany, Spain, and Italy.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- Long tail distribution shows users can target new markets with low booking volumes.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918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F71C7C-C925-460A-A084-21BD3DBD0E0B}"/>
              </a:ext>
            </a:extLst>
          </p:cNvPr>
          <p:cNvSpPr txBox="1"/>
          <p:nvPr/>
        </p:nvSpPr>
        <p:spPr>
          <a:xfrm>
            <a:off x="605117" y="544778"/>
            <a:ext cx="8875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CONCLUSION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06F12-FF8C-443B-A136-E69BCD5CB5A1}"/>
              </a:ext>
            </a:extLst>
          </p:cNvPr>
          <p:cNvSpPr txBox="1"/>
          <p:nvPr/>
        </p:nvSpPr>
        <p:spPr>
          <a:xfrm>
            <a:off x="1102657" y="1372895"/>
            <a:ext cx="8592671" cy="4940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City Hotel leads in bookings and revenue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Heavy dependency on Online Travel Agents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Diverse and global customer base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average lead time allows better demand forecasting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average ADR ($106.53)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average lead time (~80 days)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are healthy indicators for a balanced mix of short- and long-term bookings.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Early bookings are likely driven by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seasonal planning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(e.g., holidays, summer vacations), especially for Resort Hotels.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Given the reliance on online bookings, customer satisfaction likely influences repeat business and OTA ratings.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244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C5514-2E45-4A13-81C4-44BA75F35ACE}"/>
              </a:ext>
            </a:extLst>
          </p:cNvPr>
          <p:cNvSpPr txBox="1"/>
          <p:nvPr/>
        </p:nvSpPr>
        <p:spPr>
          <a:xfrm>
            <a:off x="658906" y="726141"/>
            <a:ext cx="8942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RECOMMENDATION</a:t>
            </a:r>
            <a:endParaRPr lang="en-IN" sz="32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B2B2C-EBC8-4E70-9566-C04040811C5C}"/>
              </a:ext>
            </a:extLst>
          </p:cNvPr>
          <p:cNvSpPr txBox="1"/>
          <p:nvPr/>
        </p:nvSpPr>
        <p:spPr>
          <a:xfrm>
            <a:off x="981633" y="1683975"/>
            <a:ext cx="9036425" cy="4447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Promote Resort Hotels with offers or loyalty programs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Strengthen direct booking channels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Focus marketing on high performing countries (PRT,FRA,GBR)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dynamic pricing to optimize ADR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Encourage last-minute bookings with flexible deals.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Since lead times are long, cancellations can heavily impact revenue — implement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flexible but controlled cancellation policies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early-bird benefits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Analyze customer satisfaction data by market segment and country to tailor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marketing campaigns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483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1C3A77-BA34-4258-8C4B-1B20B04BF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63" y="1142129"/>
            <a:ext cx="6574490" cy="4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699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11930</TotalTime>
  <Words>1557</Words>
  <Application>Microsoft Office PowerPoint</Application>
  <PresentationFormat>Widescreen</PresentationFormat>
  <Paragraphs>148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HOTEL BOOKING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Chart Title : Total Booking By Hotel </vt:lpstr>
      <vt:lpstr>   Chart Title : Total Booking by Country</vt:lpstr>
      <vt:lpstr>Chart Title : Market Segment Share</vt:lpstr>
      <vt:lpstr>  Chart Title :Revenue By Hotel &amp; Country</vt:lpstr>
      <vt:lpstr>  Chart Title : Total Hotel by distribution Channel</vt:lpstr>
      <vt:lpstr>PowerPoint Presentation</vt:lpstr>
      <vt:lpstr>         TOOLS AND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DASHBOARD</dc:title>
  <dc:creator>acer</dc:creator>
  <cp:lastModifiedBy>acer</cp:lastModifiedBy>
  <cp:revision>110</cp:revision>
  <dcterms:created xsi:type="dcterms:W3CDTF">2025-10-29T08:31:14Z</dcterms:created>
  <dcterms:modified xsi:type="dcterms:W3CDTF">2025-11-07T10:12:02Z</dcterms:modified>
</cp:coreProperties>
</file>